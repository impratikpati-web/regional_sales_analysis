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450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19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9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3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71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88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67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61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486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16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5836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153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411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868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956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49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3280B-E76B-4D3D-9A23-38C2A55A97C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A098372-9D4F-441C-87CB-AA4EA34CD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97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C66DC4-C99A-9B3A-A983-E2488C13BD3A}"/>
              </a:ext>
            </a:extLst>
          </p:cNvPr>
          <p:cNvSpPr txBox="1"/>
          <p:nvPr/>
        </p:nvSpPr>
        <p:spPr>
          <a:xfrm>
            <a:off x="4722436" y="480766"/>
            <a:ext cx="2747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Project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B8DC6-0465-07BA-7B72-6256C1F0E2BB}"/>
              </a:ext>
            </a:extLst>
          </p:cNvPr>
          <p:cNvSpPr txBox="1"/>
          <p:nvPr/>
        </p:nvSpPr>
        <p:spPr>
          <a:xfrm>
            <a:off x="3678025" y="1348033"/>
            <a:ext cx="483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Algerian" panose="04020705040A02060702" pitchFamily="82" charset="0"/>
              </a:rPr>
              <a:t>Regional Sale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B190F-2640-1686-0B1C-A79122E20420}"/>
              </a:ext>
            </a:extLst>
          </p:cNvPr>
          <p:cNvSpPr txBox="1"/>
          <p:nvPr/>
        </p:nvSpPr>
        <p:spPr>
          <a:xfrm>
            <a:off x="4256202" y="2300140"/>
            <a:ext cx="3679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62B92-1F28-6D24-4DE2-41F7BC564A67}"/>
              </a:ext>
            </a:extLst>
          </p:cNvPr>
          <p:cNvSpPr txBox="1"/>
          <p:nvPr/>
        </p:nvSpPr>
        <p:spPr>
          <a:xfrm>
            <a:off x="2061328" y="3268744"/>
            <a:ext cx="80693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Analyse Acme Co’s 2021-2025 data to identify key revenue and profit drivers across products, channels and regions; uncover seasonal trends and outliers; and align performance against budgets. Use these insights to optimize pricing, promotions and market expansion for sustainable growth and reduced concentration risk.</a:t>
            </a:r>
          </a:p>
        </p:txBody>
      </p:sp>
    </p:spTree>
    <p:extLst>
      <p:ext uri="{BB962C8B-B14F-4D97-AF65-F5344CB8AC3E}">
        <p14:creationId xmlns:p14="http://schemas.microsoft.com/office/powerpoint/2010/main" val="157582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FFFD9-D336-B739-D98A-DB284A9D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0908F-840F-66CD-69C8-A564D3C3F915}"/>
              </a:ext>
            </a:extLst>
          </p:cNvPr>
          <p:cNvSpPr txBox="1"/>
          <p:nvPr/>
        </p:nvSpPr>
        <p:spPr>
          <a:xfrm>
            <a:off x="4242062" y="414779"/>
            <a:ext cx="35727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11218-81B3-F2BF-FE0A-C72483AA7957}"/>
              </a:ext>
            </a:extLst>
          </p:cNvPr>
          <p:cNvSpPr txBox="1"/>
          <p:nvPr/>
        </p:nvSpPr>
        <p:spPr>
          <a:xfrm>
            <a:off x="2381839" y="1905506"/>
            <a:ext cx="74283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2060"/>
                </a:solidFill>
                <a:latin typeface="Algerian" panose="04020705040A02060702" pitchFamily="82" charset="0"/>
              </a:rPr>
              <a:t>This analysis is based on a Regional Sales Dataset consisting of multiple related tables that capture sales transactions, customer details, product information, and regional attributes. The dataset provides a comprehensive view of sales performance across different regions, products, and customer segments.</a:t>
            </a:r>
            <a:endParaRPr lang="en-IN" sz="24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785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371AD-31F5-DB9F-90A6-E46588259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A7686-ABBA-A719-6428-26B8F11B35AF}"/>
              </a:ext>
            </a:extLst>
          </p:cNvPr>
          <p:cNvSpPr txBox="1"/>
          <p:nvPr/>
        </p:nvSpPr>
        <p:spPr>
          <a:xfrm>
            <a:off x="4139938" y="518474"/>
            <a:ext cx="3912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Time Series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E4B9AF-208B-B2A5-2290-7A11D1B76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615" y="1396270"/>
            <a:ext cx="8751216" cy="229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B76772-C6C3-1D75-F182-B9AF3303977F}"/>
              </a:ext>
            </a:extLst>
          </p:cNvPr>
          <p:cNvSpPr txBox="1"/>
          <p:nvPr/>
        </p:nvSpPr>
        <p:spPr>
          <a:xfrm>
            <a:off x="2818615" y="3686627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56286-3533-EB41-0816-BB3DD35CD827}"/>
              </a:ext>
            </a:extLst>
          </p:cNvPr>
          <p:cNvSpPr txBox="1"/>
          <p:nvPr/>
        </p:nvSpPr>
        <p:spPr>
          <a:xfrm>
            <a:off x="2931736" y="4209847"/>
            <a:ext cx="86380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Sales consistently cycle between $24M and $26M, with clear peaks in late spring to early summer (May – June) and throughs each January.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The overall trend remains stable year over year, reflecting a reliable seasonal demand pattern.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The sharp revenue drop in early 2024 stands out as an outlier, warranting closer investigation into potential causes such as market disruptions or mistimed promotions.</a:t>
            </a:r>
          </a:p>
        </p:txBody>
      </p:sp>
    </p:spTree>
    <p:extLst>
      <p:ext uri="{BB962C8B-B14F-4D97-AF65-F5344CB8AC3E}">
        <p14:creationId xmlns:p14="http://schemas.microsoft.com/office/powerpoint/2010/main" val="376943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46399-4376-7CC1-DD7A-E9FC7437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39DFDC-375E-817F-AD1D-6D7DF314F0B1}"/>
              </a:ext>
            </a:extLst>
          </p:cNvPr>
          <p:cNvSpPr txBox="1"/>
          <p:nvPr/>
        </p:nvSpPr>
        <p:spPr>
          <a:xfrm>
            <a:off x="4139938" y="518474"/>
            <a:ext cx="3912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Time Series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81AC5-4BDC-43D0-9A85-A8F6C9B6A539}"/>
              </a:ext>
            </a:extLst>
          </p:cNvPr>
          <p:cNvSpPr txBox="1"/>
          <p:nvPr/>
        </p:nvSpPr>
        <p:spPr>
          <a:xfrm>
            <a:off x="2818615" y="3686627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3E2C00A-033F-92F4-F48E-E0BDA30C3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225" y="1329801"/>
            <a:ext cx="9285402" cy="235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13D2B2-1A93-EFFD-FE18-1E3E7EF38375}"/>
              </a:ext>
            </a:extLst>
          </p:cNvPr>
          <p:cNvSpPr txBox="1"/>
          <p:nvPr/>
        </p:nvSpPr>
        <p:spPr>
          <a:xfrm>
            <a:off x="2611225" y="4209847"/>
            <a:ext cx="92854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Across all years, January begins strong with roughly $99 M, followed by a steep decline through April’s low point ($95 M).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Sales rebound in May and August ($102 M) before setting into a plateau of   $99 – 101 M from September to December.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This pattern reveals a strong post-New Year surge, a spring dip, and a mid-summer bump each calendar year.</a:t>
            </a:r>
          </a:p>
        </p:txBody>
      </p:sp>
    </p:spTree>
    <p:extLst>
      <p:ext uri="{BB962C8B-B14F-4D97-AF65-F5344CB8AC3E}">
        <p14:creationId xmlns:p14="http://schemas.microsoft.com/office/powerpoint/2010/main" val="3976564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83C9A-70BA-4282-A89E-EF759051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BA3062-0B0D-35FB-DF80-F6C428E6FA8E}"/>
              </a:ext>
            </a:extLst>
          </p:cNvPr>
          <p:cNvSpPr txBox="1"/>
          <p:nvPr/>
        </p:nvSpPr>
        <p:spPr>
          <a:xfrm>
            <a:off x="4139938" y="509048"/>
            <a:ext cx="3912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Univariate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F3B1F-99C6-2CCF-F5D4-64CECEE17D9F}"/>
              </a:ext>
            </a:extLst>
          </p:cNvPr>
          <p:cNvSpPr txBox="1"/>
          <p:nvPr/>
        </p:nvSpPr>
        <p:spPr>
          <a:xfrm>
            <a:off x="2818615" y="3686627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81C3CD7-C88B-291C-076C-FAFBCBD0D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994" y="1146057"/>
            <a:ext cx="9681328" cy="2611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CBFAE2-6A3C-BE38-C26A-36AD5EA3665C}"/>
              </a:ext>
            </a:extLst>
          </p:cNvPr>
          <p:cNvSpPr txBox="1"/>
          <p:nvPr/>
        </p:nvSpPr>
        <p:spPr>
          <a:xfrm>
            <a:off x="2450969" y="4308049"/>
            <a:ext cx="93796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</a:rPr>
              <a:t>Products 26 and 25 pull away at $117 M and $110 M, with a sharp drop to $78 M for product 13 and a tight mid-pack at $68-$75 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</a:rPr>
              <a:t>The bottom four cluster at $52-$57 M, highlighting similar constraints.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</a:rPr>
              <a:t>Focus on growth pilots for the mid-tier and efficiency gains for the lower earners to drive significant lifts.</a:t>
            </a:r>
          </a:p>
        </p:txBody>
      </p:sp>
    </p:spTree>
    <p:extLst>
      <p:ext uri="{BB962C8B-B14F-4D97-AF65-F5344CB8AC3E}">
        <p14:creationId xmlns:p14="http://schemas.microsoft.com/office/powerpoint/2010/main" val="4274543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3491F-D001-F1F2-A79A-DE4F9B68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E4C93B-B563-1601-AEA8-51706971F06D}"/>
              </a:ext>
            </a:extLst>
          </p:cNvPr>
          <p:cNvSpPr txBox="1"/>
          <p:nvPr/>
        </p:nvSpPr>
        <p:spPr>
          <a:xfrm>
            <a:off x="4139938" y="509048"/>
            <a:ext cx="3912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Univariate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F8E39-3D4C-D08C-6F6A-936B3809D456}"/>
              </a:ext>
            </a:extLst>
          </p:cNvPr>
          <p:cNvSpPr txBox="1"/>
          <p:nvPr/>
        </p:nvSpPr>
        <p:spPr>
          <a:xfrm>
            <a:off x="2818615" y="3686627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7A2BC31-0B5A-3CC0-D2E5-6110AC21A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115" y="1148019"/>
            <a:ext cx="9373385" cy="266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9BC571-6132-0DFB-0F2A-2439E8364C65}"/>
              </a:ext>
            </a:extLst>
          </p:cNvPr>
          <p:cNvSpPr txBox="1"/>
          <p:nvPr/>
        </p:nvSpPr>
        <p:spPr>
          <a:xfrm>
            <a:off x="2432115" y="4364610"/>
            <a:ext cx="93733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Products 18 and 28 lead with average profit margins of approximately $8.0-8.3 K, followed closely by product 5 and product 11 around $7.9-8.0 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Mid-tier performers like products 12,26 and 21 cluster in the $7.7-7.8 K range, while the bottom tier (products 4, 16 and 1) fall between $7.4-7.6 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Focusing on margin optimization strategies from top performers may help elevate overall product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882012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FA0B1-EA18-CA87-36BE-C2AB9CD7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7660CB-2D2F-10E8-BA67-F9EE5CF787D0}"/>
              </a:ext>
            </a:extLst>
          </p:cNvPr>
          <p:cNvSpPr txBox="1"/>
          <p:nvPr/>
        </p:nvSpPr>
        <p:spPr>
          <a:xfrm>
            <a:off x="4139938" y="509048"/>
            <a:ext cx="3912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Univariate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755F98-C889-4B96-C849-CBA472036482}"/>
              </a:ext>
            </a:extLst>
          </p:cNvPr>
          <p:cNvSpPr txBox="1"/>
          <p:nvPr/>
        </p:nvSpPr>
        <p:spPr>
          <a:xfrm>
            <a:off x="7013543" y="1633807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5C02D66-4797-650F-79E4-41F2825E6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231" y="1895417"/>
            <a:ext cx="3751769" cy="381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D0913B-9B6B-9A01-CA0B-76B8CB410DC1}"/>
              </a:ext>
            </a:extLst>
          </p:cNvPr>
          <p:cNvSpPr txBox="1"/>
          <p:nvPr/>
        </p:nvSpPr>
        <p:spPr>
          <a:xfrm>
            <a:off x="7013543" y="2297070"/>
            <a:ext cx="39121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Wholesale accounts for 54 % of sales, with distribution at 31 % and the exports at 15 %, underscoring reliance on domestic bulk channels.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To diversify revenue and mitigate concentration risk, prioritize expanding export initiatives – through target overseas marketing and strategic partner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182676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1D8C4-E29A-07B5-0022-B6611C73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265184-AC9E-1FBC-06D9-9EC9C5178051}"/>
              </a:ext>
            </a:extLst>
          </p:cNvPr>
          <p:cNvSpPr txBox="1"/>
          <p:nvPr/>
        </p:nvSpPr>
        <p:spPr>
          <a:xfrm>
            <a:off x="4139938" y="509048"/>
            <a:ext cx="3912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Univariate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B5942-8163-7229-66F6-4911981B7FB0}"/>
              </a:ext>
            </a:extLst>
          </p:cNvPr>
          <p:cNvSpPr txBox="1"/>
          <p:nvPr/>
        </p:nvSpPr>
        <p:spPr>
          <a:xfrm>
            <a:off x="2799762" y="3528595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42003A5-70DA-EB06-D723-66953771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797" y="1122412"/>
            <a:ext cx="9078013" cy="254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37047A-E093-891C-88C5-4C78A8DD441E}"/>
              </a:ext>
            </a:extLst>
          </p:cNvPr>
          <p:cNvSpPr txBox="1"/>
          <p:nvPr/>
        </p:nvSpPr>
        <p:spPr>
          <a:xfrm>
            <a:off x="2799762" y="4128940"/>
            <a:ext cx="88800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The order value distribution is heavily right-skewed, with most orders clustering between $20 K and $120 K and a pronounced mode around $50 K - $60 K.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A long tail of high-value transactions extends up toward $400 K-$500 K, but these large orders represent only a small share of total volume.</a:t>
            </a:r>
          </a:p>
        </p:txBody>
      </p:sp>
    </p:spTree>
    <p:extLst>
      <p:ext uri="{BB962C8B-B14F-4D97-AF65-F5344CB8AC3E}">
        <p14:creationId xmlns:p14="http://schemas.microsoft.com/office/powerpoint/2010/main" val="1298204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A70E6-78C3-DF9F-2F3E-226339933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9BCD65-5C62-F5C6-A327-2E035E78E264}"/>
              </a:ext>
            </a:extLst>
          </p:cNvPr>
          <p:cNvSpPr txBox="1"/>
          <p:nvPr/>
        </p:nvSpPr>
        <p:spPr>
          <a:xfrm>
            <a:off x="4139938" y="509048"/>
            <a:ext cx="3912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Univariate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EC3E9-428F-55F8-ECF7-C434C6B20811}"/>
              </a:ext>
            </a:extLst>
          </p:cNvPr>
          <p:cNvSpPr txBox="1"/>
          <p:nvPr/>
        </p:nvSpPr>
        <p:spPr>
          <a:xfrm>
            <a:off x="2799762" y="3528595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C1B19AB-1A4F-9076-DD4E-01DA663A0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077" y="1196115"/>
            <a:ext cx="9217123" cy="233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40BFA7-4D0F-00CA-DCB5-E07B607020E6}"/>
              </a:ext>
            </a:extLst>
          </p:cNvPr>
          <p:cNvSpPr txBox="1"/>
          <p:nvPr/>
        </p:nvSpPr>
        <p:spPr>
          <a:xfrm>
            <a:off x="2670077" y="4051815"/>
            <a:ext cx="9217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West dominates with roughly $360 M in sales (~35% of total), underscoring its market leadership.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South &amp; Midwest each contribute over $320M (~32%), indicating strong, consistent demand across central regions.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Northeast trails at about $210M (~20%), signalling room for growth and targeted investment.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Action : Focus on closing the Northeast gap with local promotions and strategic partnerships, while maintaining national playbook success.</a:t>
            </a:r>
          </a:p>
        </p:txBody>
      </p:sp>
    </p:spTree>
    <p:extLst>
      <p:ext uri="{BB962C8B-B14F-4D97-AF65-F5344CB8AC3E}">
        <p14:creationId xmlns:p14="http://schemas.microsoft.com/office/powerpoint/2010/main" val="1370548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B7A01-42C2-5044-DB1B-02AB8721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352026-457C-225B-780D-794B4C12150D}"/>
              </a:ext>
            </a:extLst>
          </p:cNvPr>
          <p:cNvSpPr txBox="1"/>
          <p:nvPr/>
        </p:nvSpPr>
        <p:spPr>
          <a:xfrm>
            <a:off x="4220851" y="518474"/>
            <a:ext cx="3750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Bivariate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4A348-7828-29B6-90FE-1EEDB0226A90}"/>
              </a:ext>
            </a:extLst>
          </p:cNvPr>
          <p:cNvSpPr txBox="1"/>
          <p:nvPr/>
        </p:nvSpPr>
        <p:spPr>
          <a:xfrm>
            <a:off x="2799763" y="3429000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287BC30-25C9-F466-F1CE-E0696FA47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762" y="1089147"/>
            <a:ext cx="8917755" cy="233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7B0863-3C06-E4FC-55A7-F4F77D42093C}"/>
              </a:ext>
            </a:extLst>
          </p:cNvPr>
          <p:cNvSpPr txBox="1"/>
          <p:nvPr/>
        </p:nvSpPr>
        <p:spPr>
          <a:xfrm>
            <a:off x="2799762" y="4138367"/>
            <a:ext cx="89177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Profit margins are concentrated between ~18% and 60%, with no clear corelation to unit price, which spans from near $0 to over $6,500.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Dense horizontal bands indicate consistent margin tiers across a wide price spectrum, reflecting uniform pricing strategies.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Outliers below 18% at both low and high price points may signal cost inefficiencies or pricing issues worth deeper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3457300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96D55-6C58-35DA-7A61-71A887094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D1A5B3-6877-809A-997A-FC4255133F17}"/>
              </a:ext>
            </a:extLst>
          </p:cNvPr>
          <p:cNvSpPr txBox="1"/>
          <p:nvPr/>
        </p:nvSpPr>
        <p:spPr>
          <a:xfrm>
            <a:off x="4220851" y="518474"/>
            <a:ext cx="3750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Bivariate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91B62-F8D2-536E-1511-84073551068F}"/>
              </a:ext>
            </a:extLst>
          </p:cNvPr>
          <p:cNvSpPr txBox="1"/>
          <p:nvPr/>
        </p:nvSpPr>
        <p:spPr>
          <a:xfrm>
            <a:off x="2799763" y="3429000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4B3C48E-E883-48F1-AAB5-1BB230389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700" y="1103559"/>
            <a:ext cx="9568207" cy="243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E247E3-DBB4-21AF-F736-A7FCD6363A84}"/>
              </a:ext>
            </a:extLst>
          </p:cNvPr>
          <p:cNvSpPr txBox="1"/>
          <p:nvPr/>
        </p:nvSpPr>
        <p:spPr>
          <a:xfrm>
            <a:off x="2356700" y="3952220"/>
            <a:ext cx="95682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Products 8, 17, 27, 20 and 28 show high-end revenue spikes – well above their upper whiskers – likely due to bulk orders or premium bundles that temporarily inflate earnings.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In contrast, deep low-end outliers (near $0-$100) on products 20 and 27 suggest promotional giveaways or test SKUs that pull down average prices.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To ensure accurate margin and pricing assessments, exclude these outlier  transactions from average calculations.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These assess whether such anomalies warrant formalization as ongoing promotional strategies or should be phased out to stabilize pricing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512185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08697-303F-90AA-24BF-C9D83F79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327E7F-D68E-2AD0-835D-3450D00F4E40}"/>
              </a:ext>
            </a:extLst>
          </p:cNvPr>
          <p:cNvSpPr txBox="1"/>
          <p:nvPr/>
        </p:nvSpPr>
        <p:spPr>
          <a:xfrm>
            <a:off x="4220851" y="518474"/>
            <a:ext cx="3750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Bivariate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1EBC4-BB1A-0D38-BDE8-231173C5C7AF}"/>
              </a:ext>
            </a:extLst>
          </p:cNvPr>
          <p:cNvSpPr txBox="1"/>
          <p:nvPr/>
        </p:nvSpPr>
        <p:spPr>
          <a:xfrm>
            <a:off x="6447937" y="1404332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33DD51E-4858-564E-119B-C1D450A6D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983" y="1364235"/>
            <a:ext cx="4058829" cy="427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7E40C8-DDF2-FC19-D5D8-249550B02AA6}"/>
              </a:ext>
            </a:extLst>
          </p:cNvPr>
          <p:cNvSpPr txBox="1"/>
          <p:nvPr/>
        </p:nvSpPr>
        <p:spPr>
          <a:xfrm>
            <a:off x="6447937" y="2055043"/>
            <a:ext cx="50998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Export leads with a37.93 % average margin, closely followed by Distributor (37.56%) and Wholesale (37.09%)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The tiny spread (&lt;0.2%) shows consistently strong profitability across all channels.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This uniformity implies well-controlled costs and pricing power everywhere.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To maximize returns, push volume growth in export while maintaining efficiency in Distributor and Wholesale.</a:t>
            </a:r>
          </a:p>
        </p:txBody>
      </p:sp>
    </p:spTree>
    <p:extLst>
      <p:ext uri="{BB962C8B-B14F-4D97-AF65-F5344CB8AC3E}">
        <p14:creationId xmlns:p14="http://schemas.microsoft.com/office/powerpoint/2010/main" val="60116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F9A7D-8539-B19F-0FBF-92D977C5D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076676-1D96-FF17-0A80-AF61BD04B344}"/>
              </a:ext>
            </a:extLst>
          </p:cNvPr>
          <p:cNvSpPr txBox="1"/>
          <p:nvPr/>
        </p:nvSpPr>
        <p:spPr>
          <a:xfrm>
            <a:off x="4011497" y="518474"/>
            <a:ext cx="41690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Multivariate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28307-AA83-37BB-C22C-0CF9DD98C14D}"/>
              </a:ext>
            </a:extLst>
          </p:cNvPr>
          <p:cNvSpPr txBox="1"/>
          <p:nvPr/>
        </p:nvSpPr>
        <p:spPr>
          <a:xfrm>
            <a:off x="2799763" y="3429000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1DF0DE0-4158-7684-1A4A-665275AE5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190" y="1137010"/>
            <a:ext cx="9920140" cy="229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FE3901-81CC-8787-1235-AC4762DA8852}"/>
              </a:ext>
            </a:extLst>
          </p:cNvPr>
          <p:cNvSpPr txBox="1"/>
          <p:nvPr/>
        </p:nvSpPr>
        <p:spPr>
          <a:xfrm>
            <a:off x="2036190" y="3952220"/>
            <a:ext cx="99201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 err="1">
                <a:solidFill>
                  <a:srgbClr val="002060"/>
                </a:solidFill>
                <a:latin typeface="Algerian" panose="04020705040A02060702" pitchFamily="82" charset="0"/>
              </a:rPr>
              <a:t>Aibox</a:t>
            </a: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 company tops the list with $12.5M, followed closely by state Ltd ($12.2M), while the 10</a:t>
            </a:r>
            <a:r>
              <a:rPr lang="en-IN" b="1" baseline="30000" dirty="0">
                <a:solidFill>
                  <a:srgbClr val="002060"/>
                </a:solidFill>
                <a:latin typeface="Algerian" panose="04020705040A02060702" pitchFamily="82" charset="0"/>
              </a:rPr>
              <a:t>th</a:t>
            </a: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-ranked Deseret Group contributes $9.9M – demonstrating a tight $10-12 M top tier.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At the bottom, Johnson Ltd leads its group with $5.1 M, down to BB17 company at $4.1M – roughly half the top customer’s revenue.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This steep drop from ~$10M+ to $4-5M highlights high revenue concentration among the top customers.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Action : Prioritize retention and upsell for your top ten, and launch targeted growth campaigns to elevate the lower-revenue cohort.</a:t>
            </a:r>
          </a:p>
        </p:txBody>
      </p:sp>
    </p:spTree>
    <p:extLst>
      <p:ext uri="{BB962C8B-B14F-4D97-AF65-F5344CB8AC3E}">
        <p14:creationId xmlns:p14="http://schemas.microsoft.com/office/powerpoint/2010/main" val="2782917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18628-0153-0B40-AA0B-077573060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3A2BF7-BE2C-D986-AF70-A54F3AB1F5C9}"/>
              </a:ext>
            </a:extLst>
          </p:cNvPr>
          <p:cNvSpPr txBox="1"/>
          <p:nvPr/>
        </p:nvSpPr>
        <p:spPr>
          <a:xfrm>
            <a:off x="4011497" y="518474"/>
            <a:ext cx="41690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Multivariate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9C072-C1AC-A35E-3A4A-EBD3855D0624}"/>
              </a:ext>
            </a:extLst>
          </p:cNvPr>
          <p:cNvSpPr txBox="1"/>
          <p:nvPr/>
        </p:nvSpPr>
        <p:spPr>
          <a:xfrm>
            <a:off x="6652294" y="1415886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12294" name="Picture 6">
            <a:extLst>
              <a:ext uri="{FF2B5EF4-FFF2-40B4-BE49-F238E27FC236}">
                <a16:creationId xmlns:a16="http://schemas.microsoft.com/office/drawing/2014/main" id="{E9147402-FAB3-1FF9-5ABE-817B80F05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420" y="1415886"/>
            <a:ext cx="4470874" cy="3721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EC1CE5-A4E0-E303-A470-E5B781BADEE0}"/>
              </a:ext>
            </a:extLst>
          </p:cNvPr>
          <p:cNvSpPr txBox="1"/>
          <p:nvPr/>
        </p:nvSpPr>
        <p:spPr>
          <a:xfrm>
            <a:off x="6796726" y="1939106"/>
            <a:ext cx="507162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Customers with &gt;$10 M in revenue tend to sustain margins between 36-40%, indicating that scale does not significantly erode profitability.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Most customers cluster within the $6-10M range and show stable margins (~34-40%), suggesting consistent pricing in this tier.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Customers below $6M display the widest margin variance (~33-43%), pointing to more volatile cost structures or discounts among smaller accounts.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rgbClr val="002060"/>
                </a:solidFill>
                <a:latin typeface="Algerian" panose="04020705040A02060702" pitchFamily="82" charset="0"/>
              </a:rPr>
              <a:t>Bubble size (order count) increases with revenue, but margin levels appear unaffected – reinforcing revenue as the dominant performance driver over order volume.</a:t>
            </a:r>
          </a:p>
        </p:txBody>
      </p:sp>
    </p:spTree>
    <p:extLst>
      <p:ext uri="{BB962C8B-B14F-4D97-AF65-F5344CB8AC3E}">
        <p14:creationId xmlns:p14="http://schemas.microsoft.com/office/powerpoint/2010/main" val="4231069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A80FA-3205-96A0-869D-504D0762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6CEE1D-556D-D017-1188-55D575FA7D73}"/>
              </a:ext>
            </a:extLst>
          </p:cNvPr>
          <p:cNvSpPr txBox="1"/>
          <p:nvPr/>
        </p:nvSpPr>
        <p:spPr>
          <a:xfrm>
            <a:off x="4011497" y="518474"/>
            <a:ext cx="41690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Multivariate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B9155-69D2-22C0-DF7C-3306E63620FF}"/>
              </a:ext>
            </a:extLst>
          </p:cNvPr>
          <p:cNvSpPr txBox="1"/>
          <p:nvPr/>
        </p:nvSpPr>
        <p:spPr>
          <a:xfrm>
            <a:off x="1872904" y="1226360"/>
            <a:ext cx="16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Findings :-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D7A4ACF-775E-D9E3-DF28-02445DFD5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480" y="1226360"/>
            <a:ext cx="4587122" cy="317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4DD389-79CD-0166-6359-8ED4A9CDE9DF}"/>
              </a:ext>
            </a:extLst>
          </p:cNvPr>
          <p:cNvSpPr txBox="1"/>
          <p:nvPr/>
        </p:nvSpPr>
        <p:spPr>
          <a:xfrm>
            <a:off x="1480008" y="1608178"/>
            <a:ext cx="570321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Profit and revenue are very strongly corelated (0.87), indicating that as sales value increases, profit tends to rise as well.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Unit price is a key diver: it correlates 0.91 with revenue, 0.79 with profit and 0.94 with cost – highlighting how pricing decisions ripple through both top-line and expense figures.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Cost shows a strong link to revenue (0.85) but a more moderate tie to profit (0.58), underscoring that while higher sales often bring higher expenses, margins can still vary.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Quantity has virtually no corelation with unit price or cost (~0.00) and only modest associations with revenue (0.34) and profit (0.30), making volume a secondary factor compared to pricing.</a:t>
            </a:r>
          </a:p>
        </p:txBody>
      </p:sp>
    </p:spTree>
    <p:extLst>
      <p:ext uri="{BB962C8B-B14F-4D97-AF65-F5344CB8AC3E}">
        <p14:creationId xmlns:p14="http://schemas.microsoft.com/office/powerpoint/2010/main" val="2659754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3E470-7A5A-774D-88CA-14CC685FE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EC2EA7-E0F4-0A74-A21A-2806B7C4FCC8}"/>
              </a:ext>
            </a:extLst>
          </p:cNvPr>
          <p:cNvSpPr txBox="1"/>
          <p:nvPr/>
        </p:nvSpPr>
        <p:spPr>
          <a:xfrm>
            <a:off x="4469876" y="367645"/>
            <a:ext cx="3252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-:Key Insights:-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AD148B-6053-8588-F7DD-E888950F21D2}"/>
              </a:ext>
            </a:extLst>
          </p:cNvPr>
          <p:cNvSpPr txBox="1"/>
          <p:nvPr/>
        </p:nvSpPr>
        <p:spPr>
          <a:xfrm>
            <a:off x="2042474" y="1075531"/>
            <a:ext cx="4289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Monthly Revenue Cycle:-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A6C25-F1CE-2330-E4E1-088026100100}"/>
              </a:ext>
            </a:extLst>
          </p:cNvPr>
          <p:cNvSpPr txBox="1"/>
          <p:nvPr/>
        </p:nvSpPr>
        <p:spPr>
          <a:xfrm>
            <a:off x="2403834" y="1537196"/>
            <a:ext cx="9624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Revenue stays stable between ~$23M-$26.5M across 2021-2024, with no consistent seasonal spikes. Sharpest drop (~$21.2M) occurs in early 2024, indicating a possible one-time disruption.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342A2-4E95-5040-A91F-28E4C2C05C2E}"/>
              </a:ext>
            </a:extLst>
          </p:cNvPr>
          <p:cNvSpPr txBox="1"/>
          <p:nvPr/>
        </p:nvSpPr>
        <p:spPr>
          <a:xfrm>
            <a:off x="2042474" y="2460526"/>
            <a:ext cx="3289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Channel Mix:-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7EB9D5-42B1-0143-0B08-8AF18EF322F9}"/>
              </a:ext>
            </a:extLst>
          </p:cNvPr>
          <p:cNvSpPr txBox="1"/>
          <p:nvPr/>
        </p:nvSpPr>
        <p:spPr>
          <a:xfrm>
            <a:off x="2403834" y="2922191"/>
            <a:ext cx="9624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Wholesale: 54%. Distributors: 31%. Export:15% - opportunity to scale international presence.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3E70D-D5BE-EEE9-CF76-6C449B60B245}"/>
              </a:ext>
            </a:extLst>
          </p:cNvPr>
          <p:cNvSpPr txBox="1"/>
          <p:nvPr/>
        </p:nvSpPr>
        <p:spPr>
          <a:xfrm>
            <a:off x="2403834" y="2922191"/>
            <a:ext cx="9624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8D4E4-D1D7-8B16-CCBA-C3CB28D77DF6}"/>
              </a:ext>
            </a:extLst>
          </p:cNvPr>
          <p:cNvSpPr txBox="1"/>
          <p:nvPr/>
        </p:nvSpPr>
        <p:spPr>
          <a:xfrm>
            <a:off x="2042474" y="3568522"/>
            <a:ext cx="3289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Top Products (Revenue):-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B0E8A-C751-1DAB-A3CE-3DC2DE5F8644}"/>
              </a:ext>
            </a:extLst>
          </p:cNvPr>
          <p:cNvSpPr txBox="1"/>
          <p:nvPr/>
        </p:nvSpPr>
        <p:spPr>
          <a:xfrm>
            <a:off x="2403834" y="4030187"/>
            <a:ext cx="9624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Product 26: $118M; Product 25: $110M; Product 13: $78M. Mid-tier: $68-75M; bottom performers: $52-57M.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A1E0D-D772-0FDD-53A1-01F7943E510F}"/>
              </a:ext>
            </a:extLst>
          </p:cNvPr>
          <p:cNvSpPr txBox="1"/>
          <p:nvPr/>
        </p:nvSpPr>
        <p:spPr>
          <a:xfrm>
            <a:off x="2042474" y="4676518"/>
            <a:ext cx="2520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Profit Margins:-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BA67AB-0551-68F5-73FB-74B8FF47877E}"/>
              </a:ext>
            </a:extLst>
          </p:cNvPr>
          <p:cNvSpPr txBox="1"/>
          <p:nvPr/>
        </p:nvSpPr>
        <p:spPr>
          <a:xfrm>
            <a:off x="2403834" y="5138183"/>
            <a:ext cx="9624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Profit margins range broadly from ~18% to~60%, with no strong correlation to unit price. Dense horizontal bands suggest standardized pricing strategies across tiers.</a:t>
            </a:r>
          </a:p>
        </p:txBody>
      </p:sp>
    </p:spTree>
    <p:extLst>
      <p:ext uri="{BB962C8B-B14F-4D97-AF65-F5344CB8AC3E}">
        <p14:creationId xmlns:p14="http://schemas.microsoft.com/office/powerpoint/2010/main" val="4179037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CE9B5-5197-9020-84DF-5E431839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3697A6-A3EF-3802-40A0-E4FF5A73E38D}"/>
              </a:ext>
            </a:extLst>
          </p:cNvPr>
          <p:cNvSpPr txBox="1"/>
          <p:nvPr/>
        </p:nvSpPr>
        <p:spPr>
          <a:xfrm>
            <a:off x="4469876" y="367645"/>
            <a:ext cx="3252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-:Key Insights:-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407E21-322C-2665-8F5F-81FFF3298552}"/>
              </a:ext>
            </a:extLst>
          </p:cNvPr>
          <p:cNvSpPr txBox="1"/>
          <p:nvPr/>
        </p:nvSpPr>
        <p:spPr>
          <a:xfrm>
            <a:off x="2037761" y="1075531"/>
            <a:ext cx="2573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Seasonal Volume:-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31772-4D25-F6C5-DF19-93F55132DFD7}"/>
              </a:ext>
            </a:extLst>
          </p:cNvPr>
          <p:cNvSpPr txBox="1"/>
          <p:nvPr/>
        </p:nvSpPr>
        <p:spPr>
          <a:xfrm>
            <a:off x="2403835" y="1630837"/>
            <a:ext cx="9181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No strong monthly pattern, but slight volume uptick appears around May – June. Early 2024 dip (~$21.2M) may require investigation.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B6D76-FB43-9705-09D1-FDC593193A18}"/>
              </a:ext>
            </a:extLst>
          </p:cNvPr>
          <p:cNvSpPr txBox="1"/>
          <p:nvPr/>
        </p:nvSpPr>
        <p:spPr>
          <a:xfrm>
            <a:off x="2037761" y="2370809"/>
            <a:ext cx="3054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Regional Performance:-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AB3C3C-CD42-18FD-C86E-934BA2840D0B}"/>
              </a:ext>
            </a:extLst>
          </p:cNvPr>
          <p:cNvSpPr txBox="1"/>
          <p:nvPr/>
        </p:nvSpPr>
        <p:spPr>
          <a:xfrm>
            <a:off x="2403835" y="2997724"/>
            <a:ext cx="91817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California leads: ~$230M Revenue &amp; 7500+ orders. Illinois/Florida/Texas: ~$85M-$110M &amp; ~3500-4500 orders. NY/Indiana: ~$54M &amp; 2000+ orders.</a:t>
            </a:r>
          </a:p>
        </p:txBody>
      </p:sp>
    </p:spTree>
    <p:extLst>
      <p:ext uri="{BB962C8B-B14F-4D97-AF65-F5344CB8AC3E}">
        <p14:creationId xmlns:p14="http://schemas.microsoft.com/office/powerpoint/2010/main" val="3259179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3F4A5-AA4A-E93C-6E89-7B7B0B8B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624FE8-924B-C772-6DEA-F2E9F8BF2FAA}"/>
              </a:ext>
            </a:extLst>
          </p:cNvPr>
          <p:cNvSpPr txBox="1"/>
          <p:nvPr/>
        </p:nvSpPr>
        <p:spPr>
          <a:xfrm>
            <a:off x="3998536" y="424206"/>
            <a:ext cx="4194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-:Recommendations:-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2569B-BE60-E74A-27E6-73A17445B63C}"/>
              </a:ext>
            </a:extLst>
          </p:cNvPr>
          <p:cNvSpPr txBox="1"/>
          <p:nvPr/>
        </p:nvSpPr>
        <p:spPr>
          <a:xfrm>
            <a:off x="2102177" y="1263192"/>
            <a:ext cx="916285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Outlier Strategy: </a:t>
            </a: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Exclude or formalize bulk-order and promotional SKUs when calculating averages.</a:t>
            </a:r>
          </a:p>
          <a:p>
            <a:endParaRPr lang="en-IN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Margin Uplift: </a:t>
            </a: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Apply top-product pricing levers to mid/low tiers; cut costs on underperformers.</a:t>
            </a:r>
          </a:p>
          <a:p>
            <a:endParaRPr lang="en-IN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Export Growth: </a:t>
            </a: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Invest in targeted overseas marketing and distributor partnerships.</a:t>
            </a:r>
          </a:p>
          <a:p>
            <a:endParaRPr lang="en-IN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Seasonal Planning: </a:t>
            </a: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Shift spend towards January through and May-June peak; investigate the 2024 anomaly.</a:t>
            </a:r>
          </a:p>
          <a:p>
            <a:endParaRPr lang="en-IN" b="1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Dashboard Prep: </a:t>
            </a:r>
            <a:r>
              <a:rPr lang="en-IN" b="1" dirty="0">
                <a:solidFill>
                  <a:srgbClr val="002060"/>
                </a:solidFill>
                <a:latin typeface="Algerian" panose="04020705040A02060702" pitchFamily="82" charset="0"/>
              </a:rPr>
              <a:t>Build aggregated tables for time series, channel mix, and product performance for Power BI.</a:t>
            </a:r>
          </a:p>
        </p:txBody>
      </p:sp>
    </p:spTree>
    <p:extLst>
      <p:ext uri="{BB962C8B-B14F-4D97-AF65-F5344CB8AC3E}">
        <p14:creationId xmlns:p14="http://schemas.microsoft.com/office/powerpoint/2010/main" val="1469562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B6651-2E8B-34AB-33C1-3DDE8DD3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777D65-E257-5E43-EB1F-8A894E74F5E3}"/>
              </a:ext>
            </a:extLst>
          </p:cNvPr>
          <p:cNvSpPr txBox="1"/>
          <p:nvPr/>
        </p:nvSpPr>
        <p:spPr>
          <a:xfrm>
            <a:off x="4319833" y="3075057"/>
            <a:ext cx="3552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  <a:latin typeface="Monotype Corsiva" panose="03010101010201010101" pitchFamily="66" charset="0"/>
              </a:rPr>
              <a:t>-:THANK YOU:-</a:t>
            </a:r>
          </a:p>
        </p:txBody>
      </p:sp>
    </p:spTree>
    <p:extLst>
      <p:ext uri="{BB962C8B-B14F-4D97-AF65-F5344CB8AC3E}">
        <p14:creationId xmlns:p14="http://schemas.microsoft.com/office/powerpoint/2010/main" val="322958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303</TotalTime>
  <Words>1492</Words>
  <Application>Microsoft Office PowerPoint</Application>
  <PresentationFormat>Widescreen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Algerian</vt:lpstr>
      <vt:lpstr>Arial</vt:lpstr>
      <vt:lpstr>Century Gothic</vt:lpstr>
      <vt:lpstr>Monotype Corsiva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Pati</dc:creator>
  <cp:lastModifiedBy>Pratik Pati</cp:lastModifiedBy>
  <cp:revision>1</cp:revision>
  <dcterms:created xsi:type="dcterms:W3CDTF">2026-01-22T10:23:56Z</dcterms:created>
  <dcterms:modified xsi:type="dcterms:W3CDTF">2026-01-22T15:27:23Z</dcterms:modified>
</cp:coreProperties>
</file>